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Marin − OLMo (pp)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DoAnythingNow</c:v>
                  </c:pt>
                  <c:pt idx="1">
                    <c:v>WildJailbreak-Harmful</c:v>
                  </c:pt>
                  <c:pt idx="2">
                    <c:v>StrongReject</c:v>
                  </c:pt>
                  <c:pt idx="3">
                    <c:v>TrustLLM</c:v>
                  </c:pt>
                  <c:pt idx="4">
                    <c:v>WildGuard-Test</c:v>
                  </c:pt>
                  <c:pt idx="5">
                    <c:v>XSTest</c:v>
                  </c:pt>
                  <c:pt idx="6">
                    <c:v>WildJailbreak-Benign</c:v>
                  </c:pt>
                  <c:pt idx="7">
                    <c:v>HarmBench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18.1</c:v>
                </c:pt>
                <c:pt idx="1">
                  <c:v>6.5</c:v>
                </c:pt>
                <c:pt idx="2">
                  <c:v>4.5</c:v>
                </c:pt>
                <c:pt idx="3">
                  <c:v>0.5</c:v>
                </c:pt>
                <c:pt idx="4">
                  <c:v>-1</c:v>
                </c:pt>
                <c:pt idx="5">
                  <c:v>-2.4</c:v>
                </c:pt>
                <c:pt idx="6">
                  <c:v>-4.8</c:v>
                </c:pt>
                <c:pt idx="7">
                  <c:v>-6.6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000" u="none">
                  <a:solidFill>
                    <a:srgbClr val="5251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1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2514E"/>
                </a:solidFill>
                <a:latin typeface="Arial"/>
              </a:rPr>
              <a:t>Attack success rate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Marin-8B-Instruct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step 0</c:v>
                  </c:pt>
                  <c:pt idx="1">
                    <c:v>step 5</c:v>
                  </c:pt>
                  <c:pt idx="2">
                    <c:v>step 10</c:v>
                  </c:pt>
                  <c:pt idx="3">
                    <c:v>step 20</c:v>
                  </c:pt>
                  <c:pt idx="4">
                    <c:v>step 40</c:v>
                  </c:pt>
                  <c:pt idx="5">
                    <c:v>step 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15.6</c:v>
                </c:pt>
                <c:pt idx="1">
                  <c:v>30.3</c:v>
                </c:pt>
                <c:pt idx="2">
                  <c:v>97.8</c:v>
                </c:pt>
                <c:pt idx="3">
                  <c:v>99.1</c:v>
                </c:pt>
                <c:pt idx="4">
                  <c:v>99.1</c:v>
                </c:pt>
                <c:pt idx="5">
                  <c:v>99.1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OLMo-3-7B-Instruct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step 0</c:v>
                  </c:pt>
                  <c:pt idx="1">
                    <c:v>step 5</c:v>
                  </c:pt>
                  <c:pt idx="2">
                    <c:v>step 10</c:v>
                  </c:pt>
                  <c:pt idx="3">
                    <c:v>step 20</c:v>
                  </c:pt>
                  <c:pt idx="4">
                    <c:v>step 40</c:v>
                  </c:pt>
                  <c:pt idx="5">
                    <c:v>step 80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5.6</c:v>
                </c:pt>
                <c:pt idx="1">
                  <c:v>10.9</c:v>
                </c:pt>
                <c:pt idx="2">
                  <c:v>93.4</c:v>
                </c:pt>
                <c:pt idx="3">
                  <c:v>99.1</c:v>
                </c:pt>
                <c:pt idx="4">
                  <c:v>99.1</c:v>
                </c:pt>
                <c:pt idx="5">
                  <c:v>99.1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251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Harmful rate (%)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Kestrel</c:v>
                  </c:pt>
                  <c:pt idx="1">
                    <c:v>Ocelot</c:v>
                  </c:pt>
                  <c:pt idx="2">
                    <c:v>Jellyfish</c:v>
                  </c:pt>
                  <c:pt idx="3">
                    <c:v>Phoenix</c:v>
                  </c:pt>
                  <c:pt idx="4">
                    <c:v>Starling</c:v>
                  </c:pt>
                  <c:pt idx="5">
                    <c:v>Deeper-Starling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69.3</c:v>
                </c:pt>
                <c:pt idx="1">
                  <c:v>66.7</c:v>
                </c:pt>
                <c:pt idx="2">
                  <c:v>66.4</c:v>
                </c:pt>
                <c:pt idx="3">
                  <c:v>51.7</c:v>
                </c:pt>
                <c:pt idx="4">
                  <c:v>73.9</c:v>
                </c:pt>
                <c:pt idx="5">
                  <c:v>73.7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Refusal rate (%)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Kestrel</c:v>
                  </c:pt>
                  <c:pt idx="1">
                    <c:v>Ocelot</c:v>
                  </c:pt>
                  <c:pt idx="2">
                    <c:v>Jellyfish</c:v>
                  </c:pt>
                  <c:pt idx="3">
                    <c:v>Phoenix</c:v>
                  </c:pt>
                  <c:pt idx="4">
                    <c:v>Starling</c:v>
                  </c:pt>
                  <c:pt idx="5">
                    <c:v>Deeper-Starling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16.7</c:v>
                </c:pt>
                <c:pt idx="1">
                  <c:v>19.1</c:v>
                </c:pt>
                <c:pt idx="2">
                  <c:v>22.8</c:v>
                </c:pt>
                <c:pt idx="3">
                  <c:v>26.5</c:v>
                </c:pt>
                <c:pt idx="4">
                  <c:v>14.3</c:v>
                </c:pt>
                <c:pt idx="5">
                  <c:v>11.9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52514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251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numbers. Sources: repro-olmo3-safety/report/SUMMARY.md Parts 1-2, docs/experiments/07-29 tamper, docs/experiments/08-28 distribution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rejected alternative was to run Marin first and check plausibility. That validates expectations, not the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Default-behavior profile differences only. Not a causal tradeoff and not a robustness claim; next slide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20/40/80 shown at the reported 99.1% plateau ('step 20+'). The 0.9% floor is 3/320 genuinely refused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 28 re-run on one H200 with a real per-run vLLM seed; the July 3-seed run had collapsed seeds at Starling/Deeper-Starling. Shape unchanged. Seed SD at endpoint tags 4-11pp on harmful.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Remaining Stage 1 items: concessionary-vs-unqualified endorsement audit (S1-3F), benign-twins control (S1-05), frozen expanded eval (S1-06). Stage 2 is blocked on intermediate Starling checkpoints and a training budget (IN-001).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carry over from the Aug 27 deep-dive deck. Asks map to INBOX IN-001.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red-teaming on the Marin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contributions, July to September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 Sandoval · Industry Professor, NYU Tandon · github.com/GusSand/marin_red_teaming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97480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48456"/>
            <a:ext cx="16002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OLMo-3 published safety rows reproduced within ±3pp before any Marin number was trusted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6060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2697480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+18.1 / −6.6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648456"/>
            <a:ext cx="16002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Marin-8B-Instruct vs OLMo-3-7B: resists jailbreak framing, complies more on plain 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697480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steps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648456"/>
            <a:ext cx="16002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~100 public examples removes refusal from both models (ASR to ~99%)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6060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697480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+28.5pp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648456"/>
            <a:ext cx="16002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Phoenix→Starling cooldown: strong misinformation attempts rise; stance, not prose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instrument was validated before it measured Marin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Ai2's own harness, pinned; OLMo-3's published table reproduced first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allenai/safety-eval @060cc903, vLLM 0.11, WildGuard 7B judge run locally. Seed patched into vLLM's sampler; provenance records GPU, driver and flags per run.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OLMo-3-7B-Instruct vs Table 53 of the OLMo 3 report: 13/13 rows inside a ±3pp band fixed before the runs (≈2.5σ over 320 prompts). Think variant 11/13 run, max |Δ| 0.82pp.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pre-registered. Every headline recomputed from raw labels on a second code path. Same-configuration comparisons run on one GPU model.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caught.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 echoing the prompt (16% of harmful-graded HarmBench responses), a broken echo detector, empty responses graded as refusals (12% on Marin-base StrongREJECT), and byte-identical 'seeds'.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0" y="1463040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74920" y="14630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Spec + preregistered thresholds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856232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8562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Preflight dry run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2249424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Generate (one model per GPU)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642616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26426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Immutable run dir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035808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30358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Local judge (WildGuard)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429000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3429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Aggregate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822192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E3EE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Independent recount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4215384"/>
            <a:ext cx="3749040" cy="32918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42153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Decision log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docs/experiments/07-26_olmo3-7b_safety-eval_reproduction.md · repro-olmo3-safety/report/SUMMARY.md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 resists jailbreak framing, complies more on plain asks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Marin-8B-Instruct minus OLMo-3-7B-Instruct, safety score (higher = safer), 3 seeds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concentrated.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HarmBench's 320 prompts the models disagree on 29: Marin complies where OLMo refuses on 22, the reverse on 7. 10 of the 22 are misinformation (McNemar p = 0.008).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is the category.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14.8pp of the HarmBench gap sits there; illegal and general harmful show no gap.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at 32B.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Marin-32B-base vs OLMo-3-32B-base: OLMo is more refusal-prone on 5 of 6 compliance benchmarks, largest on framing attacks. Architecture-confounded, so a profile, not an ablation.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side.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 over-refuses benign prompts slightly more (XSTest −2.4, WildJailbreak-Benign −4.8).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repro-olmo3-safety/report/SUMMARY.md Parts 2–3, 7 · docs/experiments/07-28_marin-vs-olmo-32b_base-vs-base_safety.md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is a thin layer on both models; it peels off in ten steps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affirmative-prefix attack, ~100 public AdvBench targets, HarmBench ASR judged by WildGuard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→ 93.4% (OLMo) and 15.6% → 97.8% (Marin) by step 10; both at 99.1% from step 20. All 24 cells recompute exactly; judge labels revalidated 30/30 at both endpoints. Attacked weights deleted.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refusal is demoted from safety boundary to regression metric for casual-user behavior. The release surface needs two test families: behavioral policy, and latent capability under modification.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StrongREJECT moves the other way under attack because responses collapse to short, low-specificity text. That is a judge artifact, not tamper resistance.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docs/experiments/07-29_marin-olmo-instruct_tamper-resistance_lora-attack.md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 compliance is lowest at Phoenix, rises in cooldown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Marin-8B base checkpoints · 54 HarmBench misinformation behaviors · WildGuard · 10 seeds per endpoint tag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754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rejected.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Pre-registered: misinformation enters with the Nemotron-CC web switch at Phoenix (≥ +5pp over Jellyfish). Observed −13.5pp [−20.4, −6.7]. Phoenix is the minimum and the refusal peak.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is in the cooldown.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→ Starling harmful +22.2pp [+17.0, +27.6]; refusal −12.2pp; harmful-given-non-refusal +11pp. Roughly 40% refusal loss, 60% more harmful answers among attempts.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on WMDP,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peaks in the same phases. So it is not one judge's noise.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ablation starts with the late curated cooldown mixes, not the web data.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docs/results/08-27_misinfo_rvc/analysis.md · docs/experiments/08-27_marin-base-trajectory_misinfo-refusal-vs-capability.md · 7 contrasts Holm-adjusted, all p ≤ 0.0006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Phoenix → Starling: compliance and stance shifted, not prose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decomposition of the same 1,080 responses; blind frontier-model rubric, out-of-sample second rater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280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+11.8pp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03704"/>
            <a:ext cx="1280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 strict, general instruction following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554480"/>
            <a:ext cx="1280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−12.2pp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203704"/>
            <a:ext cx="1280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mass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554480"/>
            <a:ext cx="1280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−12.2pp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203704"/>
            <a:ext cx="1280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corrective-response mass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4630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554480"/>
            <a:ext cx="1280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+28.5pp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203704"/>
            <a:ext cx="1280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misinformation attempts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1554480"/>
            <a:ext cx="1280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203704"/>
            <a:ext cx="1280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quality given attempt; not significant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8036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Starling follows instructions more often and is much more willing to supply the requested false thesis. ≈82% of the shift is stance, ≈18% quality. Direction replicates across raters (stance κ 0.705); magnitude is rater-dependent.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tracks stance.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WildGuard's harmful label on four rated dimensions: unique ΔAUC stance +0.404, quality +0.009 (CI spans 0). A WildGuard harmful rate here is closer to a stance rate than a harm-severity rate.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88036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behavioral change is verified. The training cause is not: the data mixture and the learning-rate schedule changed together.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 test (Stage 2).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Six-arm replay from the resolved Phoenix checkpoint: {Phoenix mix, Starling mix} × {flat LR, cooldown LR}, plus two removal arms (instruction/Q&amp;A out; expository out; mass to Nemotron). Primary metric: refusal and harmful-given-non-refusal on a frozen ≥150-behavior set.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docs/experiments/08-28_phoenix-starling_distribution-decomposition.md · 08-31_gpt_out-of-sample_rater-check.md · 08-31_wildguard_rubric-dimension-regression.md · docs/reports/phoenix-starling/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Marin post-training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298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a vector, not a scalar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874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harmful behavior, benign over-refusal, dangerous base capability, tamper resistance, capability retention, measurement confidence. Refusal benchmarks alone measure the least durable property the model has.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298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control lanes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874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capability is partly a pretraining problem: targeted filtering, scored by adversarial fine-tuning. Misinformation is fluency plus fabrication; not obviously removable by filtering. The cooldown trajectory is the lead.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2C3342"/>
          </a:solidFill>
          <a:ln w="12700">
            <a:solidFill>
              <a:srgbClr val="2C33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98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before a safety result moves a recipe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874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under a pinned protocol. Capability retention on a preregistered canary. Tamper resistance scored by fine-tuning attack. A preregistered ablation with a matched control.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asks for the six-arm replay: </a:t>
            </a:r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Starling checkpoints, and a training budget for ten short runs (four 2×2 arms ×2, two removal arms ×1, plus replication of any removal that screens positive).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github.com/GusSand/marin_red_teaming · gussand.github.io/posts/2026/07/red-teaming-language-models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red-teaming on Marin — contributions to date</dc:title>
  <dc:subject>PptxGenJS Presentation</dc:subject>
  <dc:creator>Gus Sandoval</dc:creator>
  <cp:lastModifiedBy>Gus Sandoval</cp:lastModifiedBy>
  <cp:revision>1</cp:revision>
  <dcterms:created xsi:type="dcterms:W3CDTF">2026-09-04T11:01:55Z</dcterms:created>
  <dcterms:modified xsi:type="dcterms:W3CDTF">2026-09-04T11:01:55Z</dcterms:modified>
</cp:coreProperties>
</file>